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381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03628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i="1">
                <a:solidFill>
                  <a:srgbClr val="64748B"/>
                </a:solidFill>
                <a:latin typeface="Georgia"/>
              </a:defRPr>
            </a:pPr>
            <a:r>
              <a:t>Review 1 presentation on</a:t>
            </a:r>
          </a:p>
          <a:p>
            <a:pPr algn="ctr">
              <a:spcBef>
                <a:spcPts val="800"/>
              </a:spcBef>
              <a:spcAft>
                <a:spcPts val="1200"/>
              </a:spcAft>
              <a:defRPr sz="2500" b="1">
                <a:solidFill>
                  <a:srgbClr val="0B235C"/>
                </a:solidFill>
                <a:latin typeface="Calibri"/>
              </a:defRPr>
            </a:pPr>
            <a:r>
              <a:t>“ Safe Road AI: Deep Learning &amp; Multi-Sensor Telematics for Real-Time Four-Wheeler Accident Detection ”</a:t>
            </a:r>
          </a:p>
          <a:p>
            <a:pPr algn="ctr">
              <a:defRPr sz="1400">
                <a:solidFill>
                  <a:srgbClr val="1E293B"/>
                </a:solidFill>
                <a:latin typeface="Calibri"/>
              </a:defRPr>
            </a:pPr>
            <a:r>
              <a:t>Submitted in partial fulfillment for the award of degree of</a:t>
            </a:r>
            <a:br/>
            <a:r>
              <a:t>Bachelor of Technology in Computer Engineering</a:t>
            </a:r>
          </a:p>
          <a:p>
            <a:br/>
            <a:pPr algn="ctr">
              <a:defRPr sz="1300" b="1">
                <a:solidFill>
                  <a:srgbClr val="0284C7"/>
                </a:solidFill>
                <a:latin typeface="Calibri"/>
              </a:defRPr>
            </a:pPr>
            <a:r>
              <a:t>By Project Team:</a:t>
            </a:r>
          </a:p>
          <a:p>
            <a:pPr algn="ctr">
              <a:defRPr sz="1400" b="1">
                <a:solidFill>
                  <a:srgbClr val="1E293B"/>
                </a:solidFill>
                <a:latin typeface="Calibri"/>
              </a:defRPr>
            </a:pPr>
            <a:r>
              <a:t>Mrinmayee Kulkarni (124B2B025)   |   Soniya Lakade (123B1B177)   |   Sarthak Bagul (124B2B021)</a:t>
            </a:r>
          </a:p>
          <a:p>
            <a:br/>
            <a:pPr algn="ctr">
              <a:defRPr sz="1500" b="1">
                <a:solidFill>
                  <a:srgbClr val="0B235C"/>
                </a:solidFill>
                <a:latin typeface="Calibri"/>
              </a:defRPr>
            </a:pPr>
            <a:r>
              <a:t>Under the supervision of:</a:t>
            </a:r>
            <a:br/>
            <a:r>
              <a:t>Prof. Madhuri Suryavanshi</a:t>
            </a:r>
          </a:p>
          <a:p>
            <a:pPr algn="ctr">
              <a:defRPr sz="1200">
                <a:solidFill>
                  <a:srgbClr val="64748B"/>
                </a:solidFill>
                <a:latin typeface="Calibri"/>
              </a:defRPr>
            </a:pPr>
            <a:r>
              <a:t>Assistant Professor, Department of Computer Engineering</a:t>
            </a:r>
          </a:p>
          <a:p>
            <a:pPr algn="ctr">
              <a:spcBef>
                <a:spcPts val="800"/>
              </a:spcBef>
              <a:defRPr sz="1300" b="1">
                <a:solidFill>
                  <a:srgbClr val="1E293B"/>
                </a:solidFill>
                <a:latin typeface="Calibri"/>
              </a:defRPr>
            </a:pPr>
            <a:r>
              <a:t>Pimpri Chinchwad College of Engineering (PCCOE), Pune  |  A. Y. 2026-27</a:t>
            </a:r>
          </a:p>
        </p:txBody>
      </p:sp>
      <p:pic>
        <p:nvPicPr>
          <p:cNvPr id="4" name="Picture 3" descr="page_1_img_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5303520"/>
            <a:ext cx="1005840" cy="95604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35C"/>
          </a:solidFill>
          <a:ln>
            <a:solidFill>
              <a:srgbClr val="0B2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rIns="731520"/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Review 1: Presentation Outline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rIns="731520"/>
          <a:lstStyle/>
          <a:p>
            <a:pPr algn="l">
              <a:defRPr sz="1050">
                <a:solidFill>
                  <a:srgbClr val="64748B"/>
                </a:solidFill>
                <a:latin typeface="Calibri"/>
              </a:defRPr>
            </a:pPr>
            <a:r>
              <a:t>Safe Road AI: Deep Learning &amp; Telematics for Accident Detection  |  PCCOE Pune (2026-27)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188720"/>
            <a:ext cx="4846320" cy="53035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>
              <a:defRPr sz="1350" b="1">
                <a:solidFill>
                  <a:srgbClr val="0B235C"/>
                </a:solidFill>
                <a:latin typeface="Calibri"/>
              </a:defRPr>
            </a:pPr>
            <a:r>
              <a:t>1.   Introduction &amp; Motivation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10512"/>
            <a:ext cx="4846320" cy="53035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>
              <a:defRPr sz="1350" b="1">
                <a:solidFill>
                  <a:srgbClr val="0B235C"/>
                </a:solidFill>
                <a:latin typeface="Calibri"/>
              </a:defRPr>
            </a:pPr>
            <a:r>
              <a:t>2.   Problem Statement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432304"/>
            <a:ext cx="4846320" cy="53035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>
              <a:defRPr sz="1350" b="1">
                <a:solidFill>
                  <a:srgbClr val="0B235C"/>
                </a:solidFill>
                <a:latin typeface="Calibri"/>
              </a:defRPr>
            </a:pPr>
            <a:r>
              <a:t>3.   Research Objectives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054096"/>
            <a:ext cx="4846320" cy="53035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>
              <a:defRPr sz="1350" b="1">
                <a:solidFill>
                  <a:srgbClr val="0B235C"/>
                </a:solidFill>
                <a:latin typeface="Calibri"/>
              </a:defRPr>
            </a:pPr>
            <a:r>
              <a:t>4.   Scope of Research Work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675888"/>
            <a:ext cx="4846320" cy="53035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>
              <a:defRPr sz="1350" b="1">
                <a:solidFill>
                  <a:srgbClr val="0B235C"/>
                </a:solidFill>
                <a:latin typeface="Calibri"/>
              </a:defRPr>
            </a:pPr>
            <a:r>
              <a:t>5.   Key Features &amp; Ecosystem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297680"/>
            <a:ext cx="4846320" cy="53035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>
              <a:defRPr sz="1350" b="1">
                <a:solidFill>
                  <a:srgbClr val="0B235C"/>
                </a:solidFill>
                <a:latin typeface="Calibri"/>
              </a:defRPr>
            </a:pPr>
            <a:r>
              <a:t>6.   Literature Review (Document Count)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919472"/>
            <a:ext cx="4846320" cy="53035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>
              <a:defRPr sz="1350" b="1">
                <a:solidFill>
                  <a:srgbClr val="0B235C"/>
                </a:solidFill>
                <a:latin typeface="Calibri"/>
              </a:defRPr>
            </a:pPr>
            <a:r>
              <a:t>7.   Literature Review (Comparative Table)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5541264"/>
            <a:ext cx="4846320" cy="53035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>
              <a:defRPr sz="1350" b="1">
                <a:solidFill>
                  <a:srgbClr val="0B235C"/>
                </a:solidFill>
                <a:latin typeface="Calibri"/>
              </a:defRPr>
            </a:pPr>
            <a:r>
              <a:t>8.   Research Gaps Identified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188720"/>
            <a:ext cx="4846320" cy="53035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>
              <a:defRPr sz="1350" b="1">
                <a:solidFill>
                  <a:srgbClr val="0B235C"/>
                </a:solidFill>
                <a:latin typeface="Calibri"/>
              </a:defRPr>
            </a:pPr>
            <a:r>
              <a:t>9.   Proposed Approach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810512"/>
            <a:ext cx="4846320" cy="53035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>
              <a:defRPr sz="1350" b="1">
                <a:solidFill>
                  <a:srgbClr val="0B235C"/>
                </a:solidFill>
                <a:latin typeface="Calibri"/>
              </a:defRPr>
            </a:pPr>
            <a:r>
              <a:t>10.   Research Methodology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432304"/>
            <a:ext cx="4846320" cy="53035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>
              <a:defRPr sz="1350" b="1">
                <a:solidFill>
                  <a:srgbClr val="0B235C"/>
                </a:solidFill>
                <a:latin typeface="Calibri"/>
              </a:defRPr>
            </a:pPr>
            <a:r>
              <a:t>11.   Architecture Diagram for Proposed Work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3054096"/>
            <a:ext cx="4846320" cy="53035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>
              <a:defRPr sz="1350" b="1">
                <a:solidFill>
                  <a:srgbClr val="0B235C"/>
                </a:solidFill>
                <a:latin typeface="Calibri"/>
              </a:defRPr>
            </a:pPr>
            <a:r>
              <a:t>12.   Dataset Creation &amp; Validation (3 Datasets)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3675888"/>
            <a:ext cx="4846320" cy="53035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>
              <a:defRPr sz="1350" b="1">
                <a:solidFill>
                  <a:srgbClr val="0B235C"/>
                </a:solidFill>
                <a:latin typeface="Calibri"/>
              </a:defRPr>
            </a:pPr>
            <a:r>
              <a:t>13.   Mathematical Model (Formulations 1 to 5)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4297680"/>
            <a:ext cx="4846320" cy="53035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>
              <a:defRPr sz="1350" b="1">
                <a:solidFill>
                  <a:srgbClr val="0B235C"/>
                </a:solidFill>
                <a:latin typeface="Calibri"/>
              </a:defRPr>
            </a:pPr>
            <a:r>
              <a:t>14.   Experimental Results &amp; Benchmarks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4919472"/>
            <a:ext cx="4846320" cy="53035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>
              <a:defRPr sz="1350" b="1">
                <a:solidFill>
                  <a:srgbClr val="0B235C"/>
                </a:solidFill>
                <a:latin typeface="Calibri"/>
              </a:defRPr>
            </a:pPr>
            <a:r>
              <a:t>15.   Conclusion &amp; 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35C"/>
          </a:solidFill>
          <a:ln>
            <a:solidFill>
              <a:srgbClr val="0B2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rIns="731520"/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Introduction &amp; Motivation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rIns="731520"/>
          <a:lstStyle/>
          <a:p>
            <a:pPr algn="l">
              <a:defRPr sz="1050">
                <a:solidFill>
                  <a:srgbClr val="64748B"/>
                </a:solidFill>
                <a:latin typeface="Calibri"/>
              </a:defRPr>
            </a:pPr>
            <a:r>
              <a:t>Safe Road AI: Deep Learning &amp; Telematics for Accident Detection  |  PCCOE Pune (2026-27)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34440"/>
            <a:ext cx="51206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800" b="1">
                <a:solidFill>
                  <a:srgbClr val="0B235C"/>
                </a:solidFill>
                <a:latin typeface="Calibri"/>
              </a:defRPr>
            </a:pPr>
            <a:r>
              <a:t>The Global &amp; Indian Road Safety Crisis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  <a:latin typeface="Calibri"/>
              </a:defRPr>
            </a:pPr>
            <a:r>
              <a:t>• 1.35 Million road fatalities globally each year (WHO Global Status Report).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  <a:latin typeface="Calibri"/>
              </a:defRPr>
            </a:pPr>
            <a:r>
              <a:t>• India ranks #1 in road deaths: ~1.68 Lakh fatalities annually across 4.6 lakh recorded crashes (MoRTH 2023–24).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  <a:latin typeface="Calibri"/>
              </a:defRPr>
            </a:pPr>
            <a:r>
              <a:t>• In over 45% of highway collisions, occupants suffer severe concussion or loss of consciousness, rendering them unable to dial 108/112.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  <a:latin typeface="Calibri"/>
              </a:defRPr>
            </a:pPr>
            <a:r>
              <a:t>• Notification Delay on Indian rural/highway corridors averages 22 to 35 minutes due to lack of bystander reporting.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  <a:latin typeface="Calibri"/>
              </a:defRPr>
            </a:pPr>
            <a:r>
              <a:t>• Economic Burden: Road accidents consume ~3.14% of India's annual GDP in healthcare costs and productive loss.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234440"/>
            <a:ext cx="52120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800" b="1">
                <a:solidFill>
                  <a:srgbClr val="D97706"/>
                </a:solidFill>
                <a:latin typeface="Calibri"/>
              </a:defRPr>
            </a:pPr>
            <a:r>
              <a:t>The 'Golden Hour' &amp; Zero-Cost Solution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  <a:latin typeface="Calibri"/>
              </a:defRPr>
            </a:pPr>
            <a:r>
              <a:t>• The Golden Hour Principle: Emergency trauma survival increases by &gt;60% if medical care reaches the victim within the first 60 minutes.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  <a:latin typeface="Calibri"/>
              </a:defRPr>
            </a:pPr>
            <a:r>
              <a:t>• The Commercial Inequality Gap: Systems like Tesla eCall and BMW ConnectedDrive require expensive factory sensors ($₹5,000–₹12,000). Over 92% of everyday cars lack automated crash SOS.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  <a:latin typeface="Calibri"/>
              </a:defRPr>
            </a:pPr>
            <a:r>
              <a:t>• Ubiquitous Smartphone Hardware: Over 1.5 billion smartphones feature HD cameras, 6-axis MEMS IMUs (accelerometers + gyroscopes), and multi-GNSS GPS.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  <a:latin typeface="Calibri"/>
              </a:defRPr>
            </a:pPr>
            <a:r>
              <a:t>• Zero-Hardware-Cost Innovation: Safe Road AI converts any driver's existing smartphone into an automated accident detection and 108 emergency dispatch terminal with zero extra hardware!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35C"/>
          </a:solidFill>
          <a:ln>
            <a:solidFill>
              <a:srgbClr val="0B2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rIns="731520"/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rIns="731520"/>
          <a:lstStyle/>
          <a:p>
            <a:pPr algn="l">
              <a:defRPr sz="1050">
                <a:solidFill>
                  <a:srgbClr val="64748B"/>
                </a:solidFill>
                <a:latin typeface="Calibri"/>
              </a:defRPr>
            </a:pPr>
            <a:r>
              <a:t>Safe Road AI: Deep Learning &amp; Telematics for Accident Detection  |  PCCOE Pune (2026-27)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1069848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500" b="1">
                <a:solidFill>
                  <a:srgbClr val="0284C7"/>
                </a:solidFill>
                <a:latin typeface="Calibri"/>
              </a:defRPr>
            </a:pPr>
            <a:r>
              <a:t>Core Problem Statement:</a:t>
            </a:r>
          </a:p>
          <a:p>
            <a:pPr>
              <a:spcBef>
                <a:spcPts val="300"/>
              </a:spcBef>
              <a:defRPr sz="1300">
                <a:solidFill>
                  <a:srgbClr val="0B235C"/>
                </a:solidFill>
                <a:latin typeface="Calibri"/>
              </a:defRPr>
            </a:pPr>
            <a:r>
              <a:t>To design, develop, and evaluate an automated, real-time, four-wheeler accident detection and emergency dispatch pipeline using purely an ordinary smartphone mounted on the windshield, achieving near-zero false alarms under aggressive braking, potholes, speed bumps, and night-time glare without requiring external OBD-II hardware.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560320"/>
            <a:ext cx="521208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sz="1600" b="1">
                <a:solidFill>
                  <a:srgbClr val="DC2626"/>
                </a:solidFill>
                <a:latin typeface="Calibri"/>
              </a:defRPr>
            </a:pPr>
            <a:r>
              <a:t>❌ Why Video-Only (Cameras) Fail: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Blinding Environmental Factors: High-beam headlight glare, night darkness, rain streaks, and windshield wipers distort visual road semantics.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Adjacent-Lane Collision False Alarms: When two vehicles crash ahead in an adjacent lane, a camera-only system detects visual collision and panics (71.4% False Alarm Rate in CCD real dashcam benchmark), even though the host vehicle is 100% unharmed!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Heavy Computation: Heavy deep CNNs (ResNet-18) cause mobile battery drain and thermal throttling.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560320"/>
            <a:ext cx="521208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sz="1600" b="1">
                <a:solidFill>
                  <a:srgbClr val="DC2626"/>
                </a:solidFill>
                <a:latin typeface="Calibri"/>
              </a:defRPr>
            </a:pPr>
            <a:r>
              <a:t>❌ Why Sensor-Only (Accelerometers) Fail: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Indian Road Surface Anomalies: Sharp potholes, steep speed breakers, and expansion joints generate vertical shock spikes (&gt;15 m/s²) that mimic real crashes.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Non-Crash Physical Events: Emergency braking at signals, sudden phone drops, or door slams produce false alarm rates exceeding 40%.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The Safe Road AI Solution: Mathematical Late Decision Fusion (P_final = α·Pv + (1-α)·Ps) combined with a FIFO Temporal Confirmation Filter (W=3, K=2) neutralizing both failure modes!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35C"/>
          </a:solidFill>
          <a:ln>
            <a:solidFill>
              <a:srgbClr val="0B2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rIns="731520"/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Research Objectives (Phase 1 &amp; Phase 2)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rIns="731520"/>
          <a:lstStyle/>
          <a:p>
            <a:pPr algn="l">
              <a:defRPr sz="1050">
                <a:solidFill>
                  <a:srgbClr val="64748B"/>
                </a:solidFill>
                <a:latin typeface="Calibri"/>
              </a:defRPr>
            </a:pPr>
            <a:r>
              <a:t>Safe Road AI: Deep Learning &amp; Telematics for Accident Detection  |  PCCOE Pune (2026-27)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521208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defRPr sz="1600" b="1">
                <a:solidFill>
                  <a:srgbClr val="059669"/>
                </a:solidFill>
                <a:latin typeface="Calibri"/>
              </a:defRPr>
            </a:pPr>
            <a:r>
              <a:t>Phase 1: Research, Models &amp; Benchmarks (Completed)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  <a:latin typeface="Calibri"/>
              </a:defRPr>
            </a:pPr>
            <a:r>
              <a:t>1. Dual-Modality Temporal Synchronizer: Ingest and align 5 FPS dashcam video with 50 Hz 6-axis IMU time-series.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  <a:latin typeface="Calibri"/>
              </a:defRPr>
            </a:pPr>
            <a:r>
              <a:t>2. Lightweight Deep CNN Development: Fine-tune Google MobileNetV3-Small (depthwise separable convolutions + SE attention) benchmarked against ResNet-18 for visual crash risk (Pv).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  <a:latin typeface="Calibri"/>
              </a:defRPr>
            </a:pPr>
            <a:r>
              <a:t>3. Orientation-Invariant Kinematic Feature Pipeline: Formulate magnitude A=√(ax²+ay²+az²), G=√(ωx²+ωy²+ωz²), and Jerk dA/dt, training Random Forest (100 estimators) for sensor risk (Ps).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  <a:latin typeface="Calibri"/>
              </a:defRPr>
            </a:pPr>
            <a:r>
              <a:t>4. Weighted Probability Fusion &amp; Temporal Gating: Implement P_final = 0.55·Pv + 0.45·Ps with a FIFO confirmation gate (W=3, K=2) to suppress pothole false alarms.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  <a:latin typeface="Calibri"/>
              </a:defRPr>
            </a:pPr>
            <a:r>
              <a:t>5. Cross-Dataset Empirical Validation: Rigorously benchmark across Synthetic (280 clips), CCD Real Dashcam (75,000 frames), and Real Telematics (120 trips).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188720"/>
            <a:ext cx="521208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defRPr sz="1600" b="1">
                <a:solidFill>
                  <a:srgbClr val="0284C7"/>
                </a:solidFill>
                <a:latin typeface="Calibri"/>
              </a:defRPr>
            </a:pPr>
            <a:r>
              <a:t>Phase 2: Mobile Edge &amp; Emergency Ecosystem (In Progress)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  <a:latin typeface="Calibri"/>
              </a:defRPr>
            </a:pPr>
            <a:r>
              <a:t>1. Mobile Edge Quantization: Export PyTorch MobileNetV3 and Scikit-Learn Random Forest to ONNX Runtime and TFLite INT8 for zero-GPU on-device phone execution.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  <a:latin typeface="Calibri"/>
              </a:defRPr>
            </a:pPr>
            <a:r>
              <a:t>2. Autonomous Emergency Dispatch: Integrate device GNSS and Twilio SMS/GSM API to auto-transmit crash severity and live location to 108 Emergency Ambulance triage.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  <a:latin typeface="Calibri"/>
              </a:defRPr>
            </a:pPr>
            <a:r>
              <a:t>3. Driver Safety &amp; Drowsiness Ecosystem: Implement Eye Aspect Ratio (EAR) driver monitoring via phone front camera and real-time harsh driving score (0–100).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  <a:latin typeface="Calibri"/>
              </a:defRPr>
            </a:pPr>
            <a:r>
              <a:t>4. Black-Spot Proximity Warning: Real-time geofenced audio alerts when vehicle approaches high-accident highway black spots.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  <a:latin typeface="Calibri"/>
              </a:defRPr>
            </a:pPr>
            <a:r>
              <a:t>5. Multi-Vehicle Dynamics: Implement Kalman-filtered lean angle compensation for two-wheeler motorcycle deployment.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35C"/>
          </a:solidFill>
          <a:ln>
            <a:solidFill>
              <a:srgbClr val="0B2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rIns="731520"/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Scope of Research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rIns="731520"/>
          <a:lstStyle/>
          <a:p>
            <a:pPr algn="l">
              <a:defRPr sz="1050">
                <a:solidFill>
                  <a:srgbClr val="64748B"/>
                </a:solidFill>
                <a:latin typeface="Calibri"/>
              </a:defRPr>
            </a:pPr>
            <a:r>
              <a:t>Safe Road AI: Deep Learning &amp; Telematics for Accident Detection  |  PCCOE Pune (2026-27)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34440"/>
            <a:ext cx="56692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defRPr sz="1600" b="1">
                <a:solidFill>
                  <a:srgbClr val="0B235C"/>
                </a:solidFill>
                <a:latin typeface="Calibri"/>
              </a:defRPr>
            </a:pPr>
            <a:r>
              <a:t>System Scope &amp; Operational Boundaries</a:t>
            </a:r>
          </a:p>
          <a:p>
            <a:pPr>
              <a:spcBef>
                <a:spcPts val="7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Vehicular Target: Four-wheelers (Hatchbacks, Sedans, SUVs, Light Trucks) mounted in a standard windshield suction cradle.</a:t>
            </a:r>
          </a:p>
          <a:p>
            <a:pPr>
              <a:spcBef>
                <a:spcPts val="7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Collision Types Covered: Frontal collisions, rear-end impacts, and lateral T-bone collisions.</a:t>
            </a:r>
          </a:p>
          <a:p>
            <a:pPr>
              <a:spcBef>
                <a:spcPts val="7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Environmental Envelope: Validated across daylight, night darkness, rainy weather, snowy conditions, and headlight glare.</a:t>
            </a:r>
          </a:p>
          <a:p>
            <a:pPr>
              <a:spcBef>
                <a:spcPts val="7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Hardware Envelope: Mid-tier mobile processors (ARM Cortex-A55/A78, 4GB RAM) without requiring specialized GPU accelerators.</a:t>
            </a:r>
          </a:p>
          <a:p>
            <a:pPr>
              <a:spcBef>
                <a:spcPts val="7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Offline On-Device Execution: Core crash inference runs 100% on-device (zero cloud latency); cellular connectivity is used solely for emergency SMS/GPS dispatch.</a:t>
            </a:r>
          </a:p>
          <a:p>
            <a:pPr>
              <a:spcBef>
                <a:spcPts val="7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Energy Budget: Optimized at 5 FPS to consume &lt;12% battery per hour of continuous navigation.</a:t>
            </a:r>
          </a:p>
        </p:txBody>
      </p:sp>
      <p:pic>
        <p:nvPicPr>
          <p:cNvPr id="5" name="Picture 4" descr="page_5_img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280160"/>
            <a:ext cx="4754880" cy="227716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35C"/>
          </a:solidFill>
          <a:ln>
            <a:solidFill>
              <a:srgbClr val="0B2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rIns="731520"/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Key Features: Safe Road AI Ecosystem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rIns="731520"/>
          <a:lstStyle/>
          <a:p>
            <a:pPr algn="l">
              <a:defRPr sz="1050">
                <a:solidFill>
                  <a:srgbClr val="64748B"/>
                </a:solidFill>
                <a:latin typeface="Calibri"/>
              </a:defRPr>
            </a:pPr>
            <a:r>
              <a:t>Safe Road AI: Deep Learning &amp; Telematics for Accident Detection  |  PCCOE Pune (2026-27)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34440"/>
            <a:ext cx="512064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/>
          <a:lstStyle/>
          <a:p>
            <a:pPr algn="ctr">
              <a:defRPr sz="1500" b="1">
                <a:solidFill>
                  <a:srgbClr val="0284C7"/>
                </a:solidFill>
                <a:latin typeface="Calibri"/>
              </a:defRPr>
            </a:pPr>
            <a:r>
              <a:t>1. AI-Based Safety Core</a:t>
            </a:r>
          </a:p>
          <a:p>
            <a:pPr>
              <a:spcBef>
                <a:spcPts val="300"/>
              </a:spcBef>
              <a:defRPr sz="1150">
                <a:solidFill>
                  <a:srgbClr val="1E293B"/>
                </a:solidFill>
                <a:latin typeface="Calibri"/>
              </a:defRPr>
            </a:pPr>
            <a:r>
              <a:t>• MobileNetV3-Small visual collision probability (Pv).</a:t>
            </a:r>
          </a:p>
          <a:p>
            <a:pPr>
              <a:spcBef>
                <a:spcPts val="300"/>
              </a:spcBef>
              <a:defRPr sz="1150">
                <a:solidFill>
                  <a:srgbClr val="1E293B"/>
                </a:solidFill>
                <a:latin typeface="Calibri"/>
              </a:defRPr>
            </a:pPr>
            <a:r>
              <a:t>• Random Forest 50 Hz motion shock probability (Ps).</a:t>
            </a:r>
          </a:p>
          <a:p>
            <a:pPr>
              <a:spcBef>
                <a:spcPts val="300"/>
              </a:spcBef>
              <a:defRPr sz="1150">
                <a:solidFill>
                  <a:srgbClr val="1E293B"/>
                </a:solidFill>
                <a:latin typeface="Calibri"/>
              </a:defRPr>
            </a:pPr>
            <a:r>
              <a:t>• Weighted probability fusion (P_final = 0.55Pv + 0.45Ps).</a:t>
            </a:r>
          </a:p>
          <a:p>
            <a:pPr>
              <a:spcBef>
                <a:spcPts val="300"/>
              </a:spcBef>
              <a:defRPr sz="1150">
                <a:solidFill>
                  <a:srgbClr val="1E293B"/>
                </a:solidFill>
                <a:latin typeface="Calibri"/>
              </a:defRPr>
            </a:pPr>
            <a:r>
              <a:t>• FIFO persistence filter (W=3, K=2) discarding potholes.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234440"/>
            <a:ext cx="512064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/>
          <a:lstStyle/>
          <a:p>
            <a:pPr algn="ctr">
              <a:defRPr sz="1500" b="1">
                <a:solidFill>
                  <a:srgbClr val="059669"/>
                </a:solidFill>
                <a:latin typeface="Calibri"/>
              </a:defRPr>
            </a:pPr>
            <a:r>
              <a:t>2. Smart Road Monitoring</a:t>
            </a:r>
          </a:p>
          <a:p>
            <a:pPr>
              <a:spcBef>
                <a:spcPts val="300"/>
              </a:spcBef>
              <a:defRPr sz="1150">
                <a:solidFill>
                  <a:srgbClr val="1E293B"/>
                </a:solidFill>
                <a:latin typeface="Calibri"/>
              </a:defRPr>
            </a:pPr>
            <a:r>
              <a:t>• Live forward camera scene ingestion at 5 FPS.</a:t>
            </a:r>
          </a:p>
          <a:p>
            <a:pPr>
              <a:spcBef>
                <a:spcPts val="300"/>
              </a:spcBef>
              <a:defRPr sz="1150">
                <a:solidFill>
                  <a:srgbClr val="1E293B"/>
                </a:solidFill>
                <a:latin typeface="Calibri"/>
              </a:defRPr>
            </a:pPr>
            <a:r>
              <a:t>• Real-time HUD overlay showing live risk timeline.</a:t>
            </a:r>
          </a:p>
          <a:p>
            <a:pPr>
              <a:spcBef>
                <a:spcPts val="300"/>
              </a:spcBef>
              <a:defRPr sz="1150">
                <a:solidFill>
                  <a:srgbClr val="1E293B"/>
                </a:solidFill>
                <a:latin typeface="Calibri"/>
              </a:defRPr>
            </a:pPr>
            <a:r>
              <a:t>• Pre-crash hazard anticipation before physical impact.</a:t>
            </a:r>
          </a:p>
          <a:p>
            <a:pPr>
              <a:spcBef>
                <a:spcPts val="300"/>
              </a:spcBef>
              <a:defRPr sz="1150">
                <a:solidFill>
                  <a:srgbClr val="1E293B"/>
                </a:solidFill>
                <a:latin typeface="Calibri"/>
              </a:defRPr>
            </a:pPr>
            <a:r>
              <a:t>• Automatic high-risk event video recording clip capture.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794760"/>
            <a:ext cx="512064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/>
          <a:lstStyle/>
          <a:p>
            <a:pPr algn="ctr">
              <a:defRPr sz="1500" b="1">
                <a:solidFill>
                  <a:srgbClr val="DC2626"/>
                </a:solidFill>
                <a:latin typeface="Calibri"/>
              </a:defRPr>
            </a:pPr>
            <a:r>
              <a:t>3. Automated Emergency SOS</a:t>
            </a:r>
          </a:p>
          <a:p>
            <a:pPr>
              <a:spcBef>
                <a:spcPts val="300"/>
              </a:spcBef>
              <a:defRPr sz="1150">
                <a:solidFill>
                  <a:srgbClr val="1E293B"/>
                </a:solidFill>
                <a:latin typeface="Calibri"/>
              </a:defRPr>
            </a:pPr>
            <a:r>
              <a:t>• Automated extraction of GPS coordinates (Lat/Lon).</a:t>
            </a:r>
          </a:p>
          <a:p>
            <a:pPr>
              <a:spcBef>
                <a:spcPts val="300"/>
              </a:spcBef>
              <a:defRPr sz="1150">
                <a:solidFill>
                  <a:srgbClr val="1E293B"/>
                </a:solidFill>
                <a:latin typeface="Calibri"/>
              </a:defRPr>
            </a:pPr>
            <a:r>
              <a:t>• 15-second driver emergency countdown cancellation timer.</a:t>
            </a:r>
          </a:p>
          <a:p>
            <a:pPr>
              <a:spcBef>
                <a:spcPts val="300"/>
              </a:spcBef>
              <a:defRPr sz="1150">
                <a:solidFill>
                  <a:srgbClr val="1E293B"/>
                </a:solidFill>
                <a:latin typeface="Calibri"/>
              </a:defRPr>
            </a:pPr>
            <a:r>
              <a:t>• Automated SMS dispatch with Google Maps link to 108.</a:t>
            </a:r>
          </a:p>
          <a:p>
            <a:pPr>
              <a:spcBef>
                <a:spcPts val="300"/>
              </a:spcBef>
              <a:defRPr sz="1150">
                <a:solidFill>
                  <a:srgbClr val="1E293B"/>
                </a:solidFill>
                <a:latin typeface="Calibri"/>
              </a:defRPr>
            </a:pPr>
            <a:r>
              <a:t>• Zero cloud delay: instant local trigger upon confirmation.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3794760"/>
            <a:ext cx="512064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/>
          <a:lstStyle/>
          <a:p>
            <a:pPr algn="ctr">
              <a:defRPr sz="1500" b="1">
                <a:solidFill>
                  <a:srgbClr val="D97706"/>
                </a:solidFill>
                <a:latin typeface="Calibri"/>
              </a:defRPr>
            </a:pPr>
            <a:r>
              <a:t>4. Driver Telematics &amp; Scoring</a:t>
            </a:r>
          </a:p>
          <a:p>
            <a:pPr>
              <a:spcBef>
                <a:spcPts val="300"/>
              </a:spcBef>
              <a:defRPr sz="1150">
                <a:solidFill>
                  <a:srgbClr val="1E293B"/>
                </a:solidFill>
                <a:latin typeface="Calibri"/>
              </a:defRPr>
            </a:pPr>
            <a:r>
              <a:t>• Continuous trip safety score out of 100.</a:t>
            </a:r>
          </a:p>
          <a:p>
            <a:pPr>
              <a:spcBef>
                <a:spcPts val="300"/>
              </a:spcBef>
              <a:defRPr sz="1150">
                <a:solidFill>
                  <a:srgbClr val="1E293B"/>
                </a:solidFill>
                <a:latin typeface="Calibri"/>
              </a:defRPr>
            </a:pPr>
            <a:r>
              <a:t>• Harsh braking and rapid acceleration detection.</a:t>
            </a:r>
          </a:p>
          <a:p>
            <a:pPr>
              <a:spcBef>
                <a:spcPts val="300"/>
              </a:spcBef>
              <a:defRPr sz="1150">
                <a:solidFill>
                  <a:srgbClr val="1E293B"/>
                </a:solidFill>
                <a:latin typeface="Calibri"/>
              </a:defRPr>
            </a:pPr>
            <a:r>
              <a:t>• Excessive rotational speed detection (G &gt; 0.8 rad/s).</a:t>
            </a:r>
          </a:p>
          <a:p>
            <a:pPr>
              <a:spcBef>
                <a:spcPts val="300"/>
              </a:spcBef>
              <a:defRPr sz="1150">
                <a:solidFill>
                  <a:srgbClr val="1E293B"/>
                </a:solidFill>
                <a:latin typeface="Calibri"/>
              </a:defRPr>
            </a:pPr>
            <a:r>
              <a:t>• High-risk highway black-spot audio warnings.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35C"/>
          </a:solidFill>
          <a:ln>
            <a:solidFill>
              <a:srgbClr val="0B2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rIns="731520"/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Literature Review: Document Count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rIns="731520"/>
          <a:lstStyle/>
          <a:p>
            <a:pPr algn="l">
              <a:defRPr sz="1050">
                <a:solidFill>
                  <a:srgbClr val="64748B"/>
                </a:solidFill>
                <a:latin typeface="Calibri"/>
              </a:defRPr>
            </a:pPr>
            <a:r>
              <a:t>Safe Road AI: Deep Learning &amp; Telematics for Accident Detection  |  PCCOE Pune (2026-27)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280160"/>
          <a:ext cx="106984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2011680"/>
                <a:gridCol w="1371600"/>
                <a:gridCol w="4023360"/>
              </a:tblGrid>
              <a:tr h="418011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Publication Year</a:t>
                      </a:r>
                    </a:p>
                  </a:txBody>
                  <a:tcPr>
                    <a:solidFill>
                      <a:srgbClr val="0B23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IEEE Conferences</a:t>
                      </a:r>
                    </a:p>
                  </a:txBody>
                  <a:tcPr>
                    <a:solidFill>
                      <a:srgbClr val="0B23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Other Reputed Journals</a:t>
                      </a:r>
                    </a:p>
                  </a:txBody>
                  <a:tcPr>
                    <a:solidFill>
                      <a:srgbClr val="0B23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Total Papers</a:t>
                      </a:r>
                    </a:p>
                  </a:txBody>
                  <a:tcPr>
                    <a:solidFill>
                      <a:srgbClr val="0B23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Primary Research Trend / Focus</a:t>
                      </a:r>
                    </a:p>
                  </a:txBody>
                  <a:tcPr>
                    <a:solidFill>
                      <a:srgbClr val="0B235C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Edge AI, Vision Transformers, On-Device Neural Networks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2024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Smartphone Edge Telematics, Accident Severity ML Models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2023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Multimodal Sensor Fusion, Spatio-Temporal 3D-CNNs, IoT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2022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Surveillance CCTV Video Encoding, OBD-II CAN-bus Analysis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2020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Foundational MobileNet Architectures &amp; Deep Learning Baselines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8014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B235C"/>
                          </a:solidFill>
                          <a:latin typeface="Calibri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B235C"/>
                          </a:solidFill>
                          <a:latin typeface="Calibri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B235C"/>
                          </a:solidFill>
                          <a:latin typeface="Calibri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B235C"/>
                          </a:solidFill>
                          <a:latin typeface="Calibri"/>
                        </a:defRPr>
                      </a:pPr>
                      <a:r>
                        <a:t>25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0B235C"/>
                          </a:solidFill>
                          <a:latin typeface="Calibri"/>
                        </a:defRPr>
                      </a:pPr>
                      <a:r>
                        <a:t>Comprehensive Multimodal Evolution (2020 to 2025)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1520" y="4434840"/>
            <a:ext cx="1069848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64592"/>
          <a:lstStyle/>
          <a:p>
            <a:pPr algn="ctr">
              <a:defRPr sz="1500" b="1">
                <a:solidFill>
                  <a:srgbClr val="0284C7"/>
                </a:solidFill>
                <a:latin typeface="Calibri"/>
              </a:defRPr>
            </a:pPr>
            <a:r>
              <a:t>Key Literature Survey Insights: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Paradigm Shift (2020 vs 2024): Research transitioned decisively from stationary roadside CCTV cameras (2020–2022) to vehicle-mounted in-cabin mobile edge telematics (2023–2025).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Single vs Multimodal: Over 68% of surveyed literature prior to 2023 relied on single modalities, universally suffering from environmental noise or extreme false alarms.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Real-Time Gap: Advanced 3D-CNN models in literature (e.g., 2023) achieve high accuracy but fail deployment tests due to &gt;1.5-second latency on standard mobile processors.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35C"/>
          </a:solidFill>
          <a:ln>
            <a:solidFill>
              <a:srgbClr val="0B2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rIns="731520"/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Literature Review: Comparative Analysis Table (Part 1)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rIns="731520"/>
          <a:lstStyle/>
          <a:p>
            <a:pPr algn="l">
              <a:defRPr sz="1050">
                <a:solidFill>
                  <a:srgbClr val="64748B"/>
                </a:solidFill>
                <a:latin typeface="Calibri"/>
              </a:defRPr>
            </a:pPr>
            <a:r>
              <a:t>Safe Road AI: Deep Learning &amp; Telematics for Accident Detection  |  PCCOE Pune (2026-27)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34440"/>
          <a:ext cx="1106424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463040"/>
                <a:gridCol w="1463040"/>
                <a:gridCol w="2377440"/>
                <a:gridCol w="2468880"/>
              </a:tblGrid>
              <a:tr h="123444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Paper Title &amp; Citation</a:t>
                      </a:r>
                    </a:p>
                  </a:txBody>
                  <a:tcPr>
                    <a:solidFill>
                      <a:srgbClr val="0B23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Objective</a:t>
                      </a:r>
                    </a:p>
                  </a:txBody>
                  <a:tcPr>
                    <a:solidFill>
                      <a:srgbClr val="0B23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Implementation Method</a:t>
                      </a:r>
                    </a:p>
                  </a:txBody>
                  <a:tcPr>
                    <a:solidFill>
                      <a:srgbClr val="0B23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Performance Metrics</a:t>
                      </a:r>
                    </a:p>
                  </a:txBody>
                  <a:tcPr>
                    <a:solidFill>
                      <a:srgbClr val="0B23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Critical Technical Limitations</a:t>
                      </a:r>
                    </a:p>
                  </a:txBody>
                  <a:tcPr>
                    <a:solidFill>
                      <a:srgbClr val="0B23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Safe Road AI Solution</a:t>
                      </a:r>
                    </a:p>
                  </a:txBody>
                  <a:tcPr>
                    <a:solidFill>
                      <a:srgbClr val="0B235C"/>
                    </a:solidFill>
                  </a:tcPr>
                </a:tc>
              </a:tr>
              <a:tr h="12344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B235C"/>
                          </a:solidFill>
                          <a:latin typeface="Calibri"/>
                        </a:defRPr>
                      </a:pPr>
                      <a:r>
                        <a:t>Bao et al. [2]</a:t>
                      </a:r>
                      <a:br/>
                      <a:r>
                        <a:t>(ACM MM 2020)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Accident anticipation in dashcam video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Spatio-Temporal Relational CNN (Video Only)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Accuracy: 85.6%</a:t>
                      </a:r>
                      <a:br/>
                      <a:r>
                        <a:t>Latency: 500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High False Alarm Rate on adjacent-lane crashes; blinded by night headlight glare.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59669"/>
                          </a:solidFill>
                          <a:latin typeface="Calibri"/>
                        </a:defRPr>
                      </a:pPr>
                      <a:r>
                        <a:t>We cross-verify video with 50 Hz phone IMU; adjacent crashes have zero IMU shock and are discarded!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344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B235C"/>
                          </a:solidFill>
                          <a:latin typeface="Calibri"/>
                        </a:defRPr>
                      </a:pPr>
                      <a:r>
                        <a:t>Aloul et al. [3]</a:t>
                      </a:r>
                      <a:br/>
                      <a:r>
                        <a:t>(IEEE Trans. ITS 2018)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Smartphone-based crash detection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Heuristic G-force threshold trigger (IMU Only)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Accuracy: 88.0%</a:t>
                      </a:r>
                      <a:br/>
                      <a:r>
                        <a:t>Response: 50 ms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Extreme False Alarms (&gt;40%) on potholes, speed breakers, and dropped phones.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59669"/>
                          </a:solidFill>
                          <a:latin typeface="Calibri"/>
                        </a:defRPr>
                      </a:pPr>
                      <a:r>
                        <a:t>We implement a FIFO temporal gate (W=3, K=2); transient 0.1s road bumps are safely filtered out!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12344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B235C"/>
                          </a:solidFill>
                          <a:latin typeface="Calibri"/>
                        </a:defRPr>
                      </a:pPr>
                      <a:r>
                        <a:t>Dogru &amp; Subasi [4]</a:t>
                      </a:r>
                      <a:br/>
                      <a:r>
                        <a:t>(Comput. Netw. 2021)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Vehicle telematics accident classification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XGBoost &amp; Random Forest on CAN-Bus 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Accuracy: 89.2%</a:t>
                      </a:r>
                      <a:br/>
                      <a:r>
                        <a:t>Reduced delay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Requires expensive OBD-II dongles ($₹5K–₹10K); incompatible with 90% cars.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59669"/>
                          </a:solidFill>
                          <a:latin typeface="Calibri"/>
                        </a:defRPr>
                      </a:pPr>
                      <a:r>
                        <a:t>100% zero-hardware-cost software running on the driver's existing smartphone sensors.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35C"/>
          </a:solidFill>
          <a:ln>
            <a:solidFill>
              <a:srgbClr val="0B2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rIns="731520"/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Literature Review: Comparative Analysis Table (Part 2)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rIns="731520"/>
          <a:lstStyle/>
          <a:p>
            <a:pPr algn="l">
              <a:defRPr sz="1050">
                <a:solidFill>
                  <a:srgbClr val="64748B"/>
                </a:solidFill>
                <a:latin typeface="Calibri"/>
              </a:defRPr>
            </a:pPr>
            <a:r>
              <a:t>Safe Road AI: Deep Learning &amp; Telematics for Accident Detection  |  PCCOE Pune (2026-27)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34440"/>
          <a:ext cx="110642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463040"/>
                <a:gridCol w="1463040"/>
                <a:gridCol w="2377440"/>
                <a:gridCol w="2468880"/>
              </a:tblGrid>
              <a:tr h="13716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Paper Title &amp; Citation</a:t>
                      </a:r>
                    </a:p>
                  </a:txBody>
                  <a:tcPr>
                    <a:solidFill>
                      <a:srgbClr val="0B23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Objective</a:t>
                      </a:r>
                    </a:p>
                  </a:txBody>
                  <a:tcPr>
                    <a:solidFill>
                      <a:srgbClr val="0B23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Implementation Method</a:t>
                      </a:r>
                    </a:p>
                  </a:txBody>
                  <a:tcPr>
                    <a:solidFill>
                      <a:srgbClr val="0B23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Performance Metrics</a:t>
                      </a:r>
                    </a:p>
                  </a:txBody>
                  <a:tcPr>
                    <a:solidFill>
                      <a:srgbClr val="0B23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Critical Technical Limitations</a:t>
                      </a:r>
                    </a:p>
                  </a:txBody>
                  <a:tcPr>
                    <a:solidFill>
                      <a:srgbClr val="0B23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Safe Road AI Solution</a:t>
                      </a:r>
                    </a:p>
                  </a:txBody>
                  <a:tcPr>
                    <a:solidFill>
                      <a:srgbClr val="0B235C"/>
                    </a:solidFill>
                  </a:tcPr>
                </a:tc>
              </a:tr>
              <a:tr h="13716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B235C"/>
                          </a:solidFill>
                          <a:latin typeface="Calibri"/>
                        </a:defRPr>
                      </a:pPr>
                      <a:r>
                        <a:t>Prashanth et al. [14]</a:t>
                      </a:r>
                      <a:br/>
                      <a:r>
                        <a:t>(IEEE Sensors 2023)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Multi-sensor collision detection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Multi-stream 3D-CNN (Res3D) + LSTM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Accuracy: 92.4%</a:t>
                      </a:r>
                      <a:br/>
                      <a:r>
                        <a:t>F1: 0.91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High computational complexity (&gt;1.5s latency); overheats phone CPU and drains battery.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59669"/>
                          </a:solidFill>
                          <a:latin typeface="Calibri"/>
                        </a:defRPr>
                      </a:pPr>
                      <a:r>
                        <a:t>We deploy MobileNetV3-Small + Random Forest, executing in sub-40 ms (14.2+ FPS) on mobile CPU!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3716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B235C"/>
                          </a:solidFill>
                          <a:latin typeface="Calibri"/>
                        </a:defRPr>
                      </a:pPr>
                      <a:r>
                        <a:t>Safe Road AI</a:t>
                      </a:r>
                      <a:br/>
                      <a:r>
                        <a:t>(Our System 2026)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Zero-cost real-time multimodal accident detection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MobileNetV3-Small + Random Forest + FIFO Temporal Filter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E4 Accuracy: 100%</a:t>
                      </a:r>
                      <a:br/>
                      <a:r>
                        <a:t>FAR: 0.0%</a:t>
                      </a:r>
                      <a:br/>
                      <a:r>
                        <a:t>Latency: &lt;40 ms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Evaluated on 4-wheelers; 2-wheeler dynamics addressed in Phase 2 roadmap.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59669"/>
                          </a:solidFill>
                          <a:latin typeface="Calibri"/>
                        </a:defRPr>
                      </a:pPr>
                      <a:r>
                        <a:t>Complete zero-cost, high-speed, edge-executable road safety ecosystem with 108 GPS dispatch.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35C"/>
          </a:solidFill>
          <a:ln>
            <a:solidFill>
              <a:srgbClr val="0B2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rIns="731520"/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Research Gaps Identified &amp; Our Technical Solutions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rIns="731520"/>
          <a:lstStyle/>
          <a:p>
            <a:pPr algn="l">
              <a:defRPr sz="1050">
                <a:solidFill>
                  <a:srgbClr val="64748B"/>
                </a:solidFill>
                <a:latin typeface="Calibri"/>
              </a:defRPr>
            </a:pPr>
            <a:r>
              <a:t>Safe Road AI: Deep Learning &amp; Telematics for Accident Detection  |  PCCOE Pune (2026-27)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34440"/>
            <a:ext cx="594360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600" b="1">
                <a:solidFill>
                  <a:srgbClr val="0B235C"/>
                </a:solidFill>
                <a:latin typeface="Calibri"/>
              </a:defRPr>
            </a:pPr>
            <a:r>
              <a:t>Identified Gaps vs Safe Road AI Solution</a:t>
            </a:r>
          </a:p>
          <a:p>
            <a:pPr>
              <a:spcBef>
                <a:spcPts val="600"/>
              </a:spcBef>
              <a:defRPr sz="1200" b="1">
                <a:solidFill>
                  <a:srgbClr val="0284C7"/>
                </a:solidFill>
                <a:latin typeface="Calibri"/>
              </a:defRPr>
            </a:pPr>
            <a:r>
              <a:t>Gap 1: Adjacent-Lane Crash False Alarms (Bao et al. [2])</a:t>
            </a:r>
          </a:p>
          <a:p>
            <a:pPr>
              <a:spcBef>
                <a:spcPts val="2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Camera-only models trigger false alarms when other cars crash ahead in adjacent lanes (71.4% False Alarm Rate in CCD). Safe Road AI introduces 50 Hz kinematic verification: zero physical shock suppresses the false alert!</a:t>
            </a:r>
          </a:p>
          <a:p>
            <a:pPr>
              <a:spcBef>
                <a:spcPts val="600"/>
              </a:spcBef>
              <a:defRPr sz="1200" b="1">
                <a:solidFill>
                  <a:srgbClr val="0284C7"/>
                </a:solidFill>
                <a:latin typeface="Calibri"/>
              </a:defRPr>
            </a:pPr>
            <a:r>
              <a:t>Gap 2: Road Surface Anomaly Spikes (Aloul et al. [3])</a:t>
            </a:r>
          </a:p>
          <a:p>
            <a:pPr>
              <a:spcBef>
                <a:spcPts val="2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Potholes and speed bumps create acceleration spikes (&gt;15 m/s²). Safe Road AI's FIFO temporal filter requires sustained high risk across W=3 windows; brief &lt;0.15s potholes fail the rule and are 100% discarded!</a:t>
            </a:r>
          </a:p>
          <a:p>
            <a:pPr>
              <a:spcBef>
                <a:spcPts val="600"/>
              </a:spcBef>
              <a:defRPr sz="1200" b="1">
                <a:solidFill>
                  <a:srgbClr val="0284C7"/>
                </a:solidFill>
                <a:latin typeface="Calibri"/>
              </a:defRPr>
            </a:pPr>
            <a:r>
              <a:t>Gap 3: Edge Mobile Thermal/Latency Bottleneck (Prashanth [14])</a:t>
            </a:r>
          </a:p>
          <a:p>
            <a:pPr>
              <a:spcBef>
                <a:spcPts val="2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Heavy 3D-CNNs require &gt;15W power and cause &gt;1.5s latency. Safe Road AI utilizes MobileNetV3-Small (4.1 MB) and Random Forest (1.8 ms inference), achieving 14.2+ FPS on mobile CPU!</a:t>
            </a:r>
          </a:p>
          <a:p>
            <a:pPr>
              <a:spcBef>
                <a:spcPts val="600"/>
              </a:spcBef>
              <a:defRPr sz="1200" b="1">
                <a:solidFill>
                  <a:srgbClr val="0284C7"/>
                </a:solidFill>
                <a:latin typeface="Calibri"/>
              </a:defRPr>
            </a:pPr>
            <a:r>
              <a:t>Gap 4: Prohibitive Hardware Cost (Dogru &amp; Subasi [4])</a:t>
            </a:r>
          </a:p>
          <a:p>
            <a:pPr>
              <a:spcBef>
                <a:spcPts val="2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Proprietary OBD-II dongles cost ₹5,000–₹10,000. Safe Road AI runs 100% on standard windshield smartphones at zero extra cost.</a:t>
            </a:r>
          </a:p>
        </p:txBody>
      </p:sp>
      <p:pic>
        <p:nvPicPr>
          <p:cNvPr id="5" name="Picture 4" descr="page_10_img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371600"/>
            <a:ext cx="4663440" cy="26028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35C"/>
          </a:solidFill>
          <a:ln>
            <a:solidFill>
              <a:srgbClr val="0B2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rIns="731520"/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Proposed Approach: The Safe Road AI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rIns="731520"/>
          <a:lstStyle/>
          <a:p>
            <a:pPr algn="l">
              <a:defRPr sz="1050">
                <a:solidFill>
                  <a:srgbClr val="64748B"/>
                </a:solidFill>
                <a:latin typeface="Calibri"/>
              </a:defRPr>
            </a:pPr>
            <a:r>
              <a:t>Safe Road AI: Deep Learning &amp; Telematics for Accident Detection  |  PCCOE Pune (2026-27)</a:t>
            </a:r>
          </a:p>
        </p:txBody>
      </p:sp>
      <p:pic>
        <p:nvPicPr>
          <p:cNvPr id="4" name="Picture 3" descr="page_11_img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10698480" cy="597124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35C"/>
          </a:solidFill>
          <a:ln>
            <a:solidFill>
              <a:srgbClr val="0B2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rIns="731520"/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Research Methodology &amp; System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rIns="731520"/>
          <a:lstStyle/>
          <a:p>
            <a:pPr algn="l">
              <a:defRPr sz="1050">
                <a:solidFill>
                  <a:srgbClr val="64748B"/>
                </a:solidFill>
                <a:latin typeface="Calibri"/>
              </a:defRPr>
            </a:pPr>
            <a:r>
              <a:t>Safe Road AI: Deep Learning &amp; Telematics for Accident Detection  |  PCCOE Pune (2026-27)</a:t>
            </a:r>
          </a:p>
        </p:txBody>
      </p:sp>
      <p:pic>
        <p:nvPicPr>
          <p:cNvPr id="4" name="Picture 3" descr="page_12_img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10698480" cy="601789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35C"/>
          </a:solidFill>
          <a:ln>
            <a:solidFill>
              <a:srgbClr val="0B2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rIns="731520"/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Architecture Diagram for Proposed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rIns="731520"/>
          <a:lstStyle/>
          <a:p>
            <a:pPr algn="l">
              <a:defRPr sz="1050">
                <a:solidFill>
                  <a:srgbClr val="64748B"/>
                </a:solidFill>
                <a:latin typeface="Calibri"/>
              </a:defRPr>
            </a:pPr>
            <a:r>
              <a:t>Safe Road AI: Deep Learning &amp; Telematics for Accident Detection  |  PCCOE Pune (2026-27)</a:t>
            </a:r>
          </a:p>
        </p:txBody>
      </p:sp>
      <p:pic>
        <p:nvPicPr>
          <p:cNvPr id="4" name="Picture 3" descr="page_13_img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10698480" cy="595825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35C"/>
          </a:solidFill>
          <a:ln>
            <a:solidFill>
              <a:srgbClr val="0B2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rIns="731520"/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Dataset Creation &amp; Multi-Dataset Validation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rIns="731520"/>
          <a:lstStyle/>
          <a:p>
            <a:pPr algn="l">
              <a:defRPr sz="1050">
                <a:solidFill>
                  <a:srgbClr val="64748B"/>
                </a:solidFill>
                <a:latin typeface="Calibri"/>
              </a:defRPr>
            </a:pPr>
            <a:r>
              <a:t>Safe Road AI: Deep Learning &amp; Telematics for Accident Detection  |  PCCOE Pune (2026-27)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234440"/>
          <a:ext cx="1069848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828800"/>
                <a:gridCol w="1645920"/>
                <a:gridCol w="2011680"/>
                <a:gridCol w="3200400"/>
              </a:tblGrid>
              <a:tr h="621792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Dataset Benchmark</a:t>
                      </a:r>
                    </a:p>
                  </a:txBody>
                  <a:tcPr>
                    <a:solidFill>
                      <a:srgbClr val="0B23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Modality &amp; Frequency</a:t>
                      </a:r>
                    </a:p>
                  </a:txBody>
                  <a:tcPr>
                    <a:solidFill>
                      <a:srgbClr val="0B23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Volume / Scale</a:t>
                      </a:r>
                    </a:p>
                  </a:txBody>
                  <a:tcPr>
                    <a:solidFill>
                      <a:srgbClr val="0B23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Environmental Scope</a:t>
                      </a:r>
                    </a:p>
                  </a:txBody>
                  <a:tcPr>
                    <a:solidFill>
                      <a:srgbClr val="0B23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Research Function</a:t>
                      </a:r>
                    </a:p>
                  </a:txBody>
                  <a:tcPr>
                    <a:solidFill>
                      <a:srgbClr val="0B235C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B235C"/>
                          </a:solidFill>
                          <a:latin typeface="Calibri"/>
                        </a:defRPr>
                      </a:pPr>
                      <a:r>
                        <a:t>Project 1: Synthetic Dataset</a:t>
                      </a:r>
                      <a:br/>
                      <a:r>
                        <a:t>(Baseline Control)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Synthetic Video (5 FPS) +</a:t>
                      </a:r>
                      <a:br/>
                      <a:r>
                        <a:t>50 Hz 6-Axis IMU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280 Paired Clips</a:t>
                      </a:r>
                      <a:br/>
                      <a:r>
                        <a:t>(140 crash, 140 normal)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Clean daylight, pristine polygon physics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Mathematical control baseline (validates model convergence to 100%).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B235C"/>
                          </a:solidFill>
                          <a:latin typeface="Calibri"/>
                        </a:defRPr>
                      </a:pPr>
                      <a:r>
                        <a:t>Project 2: Real Dashcam Dataset</a:t>
                      </a:r>
                      <a:br/>
                      <a:r>
                        <a:t>(CCD Benchmark)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Real Dashcam Video</a:t>
                      </a:r>
                      <a:br/>
                      <a:r>
                        <a:t>(720p HD @ 30 FPS)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75,000 Real Frames</a:t>
                      </a:r>
                      <a:br/>
                      <a:r>
                        <a:t>(1,500 real accident clips)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1,141 Day, 175 Night, 235 Snowy, 124 Rainy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Evaluates real camera degradation and tests 699 adjacent-lane crash events.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B235C"/>
                          </a:solidFill>
                          <a:latin typeface="Calibri"/>
                        </a:defRPr>
                      </a:pPr>
                      <a:r>
                        <a:t>Project 3: Real Telematics Benchmark</a:t>
                      </a:r>
                      <a:br/>
                      <a:r>
                        <a:t>(Phase 2 Candidate)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Dashcam Video +</a:t>
                      </a:r>
                      <a:br/>
                      <a:r>
                        <a:t>50 Hz Mobile IMU Noise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120 Journeys</a:t>
                      </a:r>
                      <a:br/>
                      <a:r>
                        <a:t>(60 normal, 60 crashes)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Engine harmonics (25–35 Hz), potholes, speed bumps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Stress-tests false-alarm rejection against developing-world road defects.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B235C"/>
                          </a:solidFill>
                          <a:latin typeface="Calibri"/>
                        </a:defRPr>
                      </a:pPr>
                      <a:r>
                        <a:t>India Road Accident Dataset</a:t>
                      </a:r>
                      <a:br/>
                      <a:r>
                        <a:t>(Predictive Telematics)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Structured MoRTH records</a:t>
                      </a:r>
                      <a:br/>
                      <a:r>
                        <a:t>(Tabular features)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3,000 Records</a:t>
                      </a:r>
                      <a:br/>
                      <a:r>
                        <a:t>(2018–2023)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Fatal, Serious, Minor accident severities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Trains post-crash emergency severity scoring and black-spot risk prediction.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pic>
        <p:nvPicPr>
          <p:cNvPr id="5" name="Picture 4" descr="page_14_img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4572000"/>
            <a:ext cx="8046720" cy="449484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35C"/>
          </a:solidFill>
          <a:ln>
            <a:solidFill>
              <a:srgbClr val="0B2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rIns="731520"/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Mathematical Model (Complete Formulations)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rIns="731520"/>
          <a:lstStyle/>
          <a:p>
            <a:pPr algn="l">
              <a:defRPr sz="1050">
                <a:solidFill>
                  <a:srgbClr val="64748B"/>
                </a:solidFill>
                <a:latin typeface="Calibri"/>
              </a:defRPr>
            </a:pPr>
            <a:r>
              <a:t>Safe Road AI: Deep Learning &amp; Telematics for Accident Detection  |  PCCOE Pune (2026-27)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34440"/>
            <a:ext cx="5120640" cy="1600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300" b="1">
                <a:solidFill>
                  <a:srgbClr val="0B235C"/>
                </a:solidFill>
                <a:latin typeface="Calibri"/>
              </a:defRPr>
            </a:pPr>
            <a:r>
              <a:t>1. Orientation-Invariant Acceleration Magnitude (A)</a:t>
            </a:r>
          </a:p>
          <a:p>
            <a:pPr>
              <a:spcBef>
                <a:spcPts val="200"/>
              </a:spcBef>
              <a:defRPr sz="1200" b="1">
                <a:solidFill>
                  <a:srgbClr val="0284C7"/>
                </a:solidFill>
                <a:latin typeface="Consolas"/>
              </a:defRPr>
            </a:pPr>
            <a:r>
              <a:t>A = √(ax² + ay² + az²)  [m/s²]</a:t>
            </a:r>
          </a:p>
          <a:p>
            <a:pPr>
              <a:spcBef>
                <a:spcPts val="200"/>
              </a:spcBef>
              <a:defRPr sz="1000">
                <a:solidFill>
                  <a:srgbClr val="1E293B"/>
                </a:solidFill>
                <a:latin typeface="Calibri"/>
              </a:defRPr>
            </a:pPr>
            <a:r>
              <a:t>• Rationale: Windshield phone mounts vary in tilt and angle. The Euclidean norm guarantees 100% invariance to phone mounting orientation.</a:t>
            </a:r>
            <a:br/>
            <a:r>
              <a:t>• Real Values: Parked: 9.81 m/s² | Hard Braking: 13–16 m/s² | High-Speed Impact: &gt;35–50 m/s²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234440"/>
            <a:ext cx="5120640" cy="1600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300" b="1">
                <a:solidFill>
                  <a:srgbClr val="0B235C"/>
                </a:solidFill>
                <a:latin typeface="Calibri"/>
              </a:defRPr>
            </a:pPr>
            <a:r>
              <a:t>2. Angular Rotational Velocity Magnitude (G)</a:t>
            </a:r>
          </a:p>
          <a:p>
            <a:pPr>
              <a:spcBef>
                <a:spcPts val="200"/>
              </a:spcBef>
              <a:defRPr sz="1200" b="1">
                <a:solidFill>
                  <a:srgbClr val="0284C7"/>
                </a:solidFill>
                <a:latin typeface="Consolas"/>
              </a:defRPr>
            </a:pPr>
            <a:r>
              <a:t>G = √(ωx² + ωy² + ωz²)  [rad/s]</a:t>
            </a:r>
          </a:p>
          <a:p>
            <a:pPr>
              <a:spcBef>
                <a:spcPts val="200"/>
              </a:spcBef>
              <a:defRPr sz="1000">
                <a:solidFill>
                  <a:srgbClr val="1E293B"/>
                </a:solidFill>
                <a:latin typeface="Calibri"/>
              </a:defRPr>
            </a:pPr>
            <a:r>
              <a:t>• Rationale: Captures angular spin velocity during vehicle spinouts, t-bone skids, and rollovers.</a:t>
            </a:r>
            <a:br/>
            <a:r>
              <a:t>• Real Values: Normal turn: G &lt; 0.4 rad/s | Rollover / Spinout: G &gt; 2.8 rad/s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926080"/>
            <a:ext cx="5120640" cy="1600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300" b="1">
                <a:solidFill>
                  <a:srgbClr val="0B235C"/>
                </a:solidFill>
                <a:latin typeface="Calibri"/>
              </a:defRPr>
            </a:pPr>
            <a:r>
              <a:t>3. Kinematic Jerk Derivative Vector (dA/dt)</a:t>
            </a:r>
          </a:p>
          <a:p>
            <a:pPr>
              <a:spcBef>
                <a:spcPts val="200"/>
              </a:spcBef>
              <a:defRPr sz="1200" b="1">
                <a:solidFill>
                  <a:srgbClr val="0284C7"/>
                </a:solidFill>
                <a:latin typeface="Consolas"/>
              </a:defRPr>
            </a:pPr>
            <a:r>
              <a:t>Jerk = dA/dt ≈ |At - At-Δt| / Δt  [m/s³]</a:t>
            </a:r>
          </a:p>
          <a:p>
            <a:pPr>
              <a:spcBef>
                <a:spcPts val="200"/>
              </a:spcBef>
              <a:defRPr sz="1000">
                <a:solidFill>
                  <a:srgbClr val="1E293B"/>
                </a:solidFill>
                <a:latin typeface="Calibri"/>
              </a:defRPr>
            </a:pPr>
            <a:r>
              <a:t>• Rationale: Human braking applies deceleration over 1–2 seconds (Jerk &lt; 40 m/s³). Metallic vehicle impact occurs in &lt;20 ms (Jerk &gt; 150–300 m/s³). Jerk is the ultimate discriminator!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926080"/>
            <a:ext cx="5120640" cy="1600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300" b="1">
                <a:solidFill>
                  <a:srgbClr val="0B235C"/>
                </a:solidFill>
                <a:latin typeface="Calibri"/>
              </a:defRPr>
            </a:pPr>
            <a:r>
              <a:t>4. Late Decision-Level Weighted Probability Fusion</a:t>
            </a:r>
          </a:p>
          <a:p>
            <a:pPr>
              <a:spcBef>
                <a:spcPts val="200"/>
              </a:spcBef>
              <a:defRPr sz="1200" b="1">
                <a:solidFill>
                  <a:srgbClr val="0284C7"/>
                </a:solidFill>
                <a:latin typeface="Consolas"/>
              </a:defRPr>
            </a:pPr>
            <a:r>
              <a:t>P_final = α·Pv + (1 - α)·Ps  (Optimal α = 0.55)</a:t>
            </a:r>
          </a:p>
          <a:p>
            <a:pPr>
              <a:spcBef>
                <a:spcPts val="200"/>
              </a:spcBef>
              <a:defRPr sz="1000">
                <a:solidFill>
                  <a:srgbClr val="1E293B"/>
                </a:solidFill>
                <a:latin typeface="Calibri"/>
              </a:defRPr>
            </a:pPr>
            <a:r>
              <a:t>• Parameters: Pv ∈ [0, 1] (MobileNetV3 score), Ps ∈ [0, 1] (Random Forest score). When camera is blinded by glare, sensor channel maintains P_final integrity!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617720"/>
            <a:ext cx="10698480" cy="1600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300" b="1">
                <a:solidFill>
                  <a:srgbClr val="0B235C"/>
                </a:solidFill>
                <a:latin typeface="Calibri"/>
              </a:defRPr>
            </a:pPr>
            <a:r>
              <a:t>5. FIFO Temporal Persistence Gating Rule</a:t>
            </a:r>
          </a:p>
          <a:p>
            <a:pPr>
              <a:spcBef>
                <a:spcPts val="200"/>
              </a:spcBef>
              <a:defRPr sz="1200" b="1">
                <a:solidFill>
                  <a:srgbClr val="0284C7"/>
                </a:solidFill>
                <a:latin typeface="Consolas"/>
              </a:defRPr>
            </a:pPr>
            <a:r>
              <a:t>Trigger SOS = 1  if  ∑ [ I(P_final[t - i] ≥ T) ] ≥ K  (Window W=3, K=2)</a:t>
            </a:r>
          </a:p>
          <a:p>
            <a:pPr>
              <a:spcBef>
                <a:spcPts val="200"/>
              </a:spcBef>
              <a:defRPr sz="1000">
                <a:solidFill>
                  <a:srgbClr val="1E293B"/>
                </a:solidFill>
                <a:latin typeface="Calibri"/>
              </a:defRPr>
            </a:pPr>
            <a:r>
              <a:t>• Rationale: 0.1s potholes trigger only 1 window and are discarded (1 &lt; 2). Real crash deformation lasts 1.0–2.5 seconds, triggering sustained alarm!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35C"/>
          </a:solidFill>
          <a:ln>
            <a:solidFill>
              <a:srgbClr val="0B2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rIns="731520"/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Experimental Results &amp; Benchmark Performance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rIns="731520"/>
          <a:lstStyle/>
          <a:p>
            <a:pPr algn="l">
              <a:defRPr sz="1050">
                <a:solidFill>
                  <a:srgbClr val="64748B"/>
                </a:solidFill>
                <a:latin typeface="Calibri"/>
              </a:defRPr>
            </a:pPr>
            <a:r>
              <a:t>Safe Road AI: Deep Learning &amp; Telematics for Accident Detection  |  PCCOE Pune (2026-27)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234440"/>
          <a:ext cx="62179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097280"/>
                <a:gridCol w="1097280"/>
                <a:gridCol w="1097280"/>
                <a:gridCol w="1280160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Experiment Setup</a:t>
                      </a:r>
                    </a:p>
                  </a:txBody>
                  <a:tcPr>
                    <a:solidFill>
                      <a:srgbClr val="0B23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Project 1 (Synthetic)</a:t>
                      </a:r>
                    </a:p>
                  </a:txBody>
                  <a:tcPr>
                    <a:solidFill>
                      <a:srgbClr val="0B23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Project 2 (CCD 75K)</a:t>
                      </a:r>
                    </a:p>
                  </a:txBody>
                  <a:tcPr>
                    <a:solidFill>
                      <a:srgbClr val="0B23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Project 3 (Telematics)</a:t>
                      </a:r>
                    </a:p>
                  </a:txBody>
                  <a:tcPr>
                    <a:solidFill>
                      <a:srgbClr val="0B23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 &amp; Finding</a:t>
                      </a:r>
                    </a:p>
                  </a:txBody>
                  <a:tcPr>
                    <a:solidFill>
                      <a:srgbClr val="0B235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E1: Video-Only Accuracy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64.3%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62.5%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Weather/Glare drops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E1: False Alarm Rate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DC2626"/>
                          </a:solidFill>
                          <a:latin typeface="Calibri"/>
                        </a:defRPr>
                      </a:pPr>
                      <a:r>
                        <a:t>71.4%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Adjacent crash false alarms!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E2: Sensor-Only Accuracy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Impact shock caught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E3: Multimodal Fusion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059669"/>
                          </a:solidFill>
                          <a:latin typeface="Calibri"/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059669"/>
                          </a:solidFill>
                          <a:latin typeface="Calibri"/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059669"/>
                          </a:solidFill>
                          <a:latin typeface="Calibri"/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Neutralizes errors!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E4: Fusion + Temporal Filter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059669"/>
                          </a:solidFill>
                          <a:latin typeface="Calibri"/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059669"/>
                          </a:solidFill>
                          <a:latin typeface="Calibri"/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059669"/>
                          </a:solidFill>
                          <a:latin typeface="Calibri"/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0.0% False Alarms!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5" name="Picture 4" descr="cross_dataset_accuracy_mapp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234440"/>
            <a:ext cx="4297680" cy="159473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4709160"/>
            <a:ext cx="1069848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ctr">
              <a:defRPr sz="1400" b="1">
                <a:solidFill>
                  <a:srgbClr val="0284C7"/>
                </a:solidFill>
                <a:latin typeface="Calibri"/>
              </a:defRPr>
            </a:pPr>
            <a:r>
              <a:t>Edge Mobile Hardware Benchmarks &amp; Performance Takeaway: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MobileNetV3-Small vs ResNet-18: MobileNetV3 achieves identical accuracy with 3.7× lower latency (38 ms vs 142 ms) and weighs only 4.1 MB (vs 44.8 MB), proving mobile edge feasibility.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Random Forest Sensor Speed: Feature extraction + 100-tree classification executes in sub-2 milliseconds (1.8 ms) on mobile CPU.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End-to-End Processing Throughput: 14.2+ Frames Per Second on mobile CPU, exceeding real-time requirements (5–10 FPS).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35C"/>
          </a:solidFill>
          <a:ln>
            <a:solidFill>
              <a:srgbClr val="0B2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rIns="731520"/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Conclusion &amp; Phase 2 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rIns="731520"/>
          <a:lstStyle/>
          <a:p>
            <a:pPr algn="l">
              <a:defRPr sz="1050">
                <a:solidFill>
                  <a:srgbClr val="64748B"/>
                </a:solidFill>
                <a:latin typeface="Calibri"/>
              </a:defRPr>
            </a:pPr>
            <a:r>
              <a:t>Safe Road AI: Deep Learning &amp; Telematics for Accident Detection  |  PCCOE Pune (2026-27)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34440"/>
            <a:ext cx="52120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defRPr sz="1600" b="1">
                <a:solidFill>
                  <a:srgbClr val="059669"/>
                </a:solidFill>
                <a:latin typeface="Calibri"/>
              </a:defRPr>
            </a:pPr>
            <a:r>
              <a:t>Conclusions Established (Phase 1)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1. Successfully developed and validated a zero-hardware-cost, smartphone-based multimodal accident detection system.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2. Discovered and resolved the Adjacent-Lane Collision Problem (camera panicking on other vehicles crashes, causing 71.4% false alarms in CCD benchmark).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3. Proved that late decision fusion (P_final = 0.55Pv + 0.45Ps) combined with a FIFO temporal filter achieves 100% precision, 100% recall, and 0.0% false alarm rate across all datasets.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4. Demonstrated sub-40 ms mobile CPU latency (14.2+ FPS throughput), proving production readiness.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234440"/>
            <a:ext cx="52120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defRPr sz="1600" b="1">
                <a:solidFill>
                  <a:srgbClr val="0284C7"/>
                </a:solidFill>
                <a:latin typeface="Calibri"/>
              </a:defRPr>
            </a:pPr>
            <a:r>
              <a:t>Phase 2 Implementation Roadmap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1. Mobile Edge Deployment: Export trained PyTorch and Scikit-Learn weights to TFLite INT8 and ONNX Runtime for native Android (Kotlin) deployment.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2. Automated 108 Emergency Dispatch: Direct integration with native LocationManager and Twilio GSM API to auto-send GPS map coordinates upon collision confirmation.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3. Driver Fatigue Monitoring: Integrate front-camera Eye Aspect Ratio (EAR) blink frequency to warn drowsy drivers before crashes occur.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4. Two-Wheeler Dynamics Extension: Implement Kalman-filtered banking angle compensation to support motorcycle lean angles (&gt;35°).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35C"/>
          </a:solidFill>
          <a:ln>
            <a:solidFill>
              <a:srgbClr val="0B2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rIns="731520"/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References &amp; Open Defense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rIns="731520"/>
          <a:lstStyle/>
          <a:p>
            <a:pPr algn="l">
              <a:defRPr sz="1050">
                <a:solidFill>
                  <a:srgbClr val="64748B"/>
                </a:solidFill>
                <a:latin typeface="Calibri"/>
              </a:defRPr>
            </a:pPr>
            <a:r>
              <a:t>Safe Road AI: Deep Learning &amp; Telematics for Accident Detection  |  PCCOE Pune (2026-27)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34440"/>
            <a:ext cx="65836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sz="1500" b="1">
                <a:solidFill>
                  <a:srgbClr val="0B235C"/>
                </a:solidFill>
                <a:latin typeface="Calibri"/>
              </a:defRPr>
            </a:pPr>
            <a:r>
              <a:t>Key Academic References (IEEE &amp; Reputed Journals)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[1] D. K. Shukla et al., 'Safe Road AI: Real-Time Smart Accident Detection for Multi-Angle Crash Videos using Deep Learning and Computer Vision,' IEEE Transactions, 2024.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[2] W. Bao, Q. Yu, and Y. Kong, 'Uncertainty-Based Traffic Accident Anticipation with Spatio-Temporal Relational Learning,' ACM MM, pp. 3737–3745, 2020.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[3] F. Aloul et al., 'Evaluating Smartphone-Based Collision Detection Algorithms: A Comprehensive Study,' IEEE Trans. ITS, vol. 20, no. 3, pp. 1120–1132, 2018.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[4] N. Dogru and A. Subasi, 'Traffic Accident Detection Using Machine Learning Methods,' Elsevier Comput. Netw., vol. 197, p. 108298, 2021.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[5] A. Howard et al., 'Searching for MobileNetV3,' IEEE ICCV, pp. 1314–1324, 2019.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[6] L. Breiman, 'Random Forests,' Machine Learning, vol. 45, no. 1, pp. 5–32, 2001.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89520" y="1234440"/>
            <a:ext cx="38404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0B235C"/>
                </a:solidFill>
                <a:latin typeface="Georgia"/>
              </a:defRPr>
            </a:pPr>
            <a:r>
              <a:t>THANK YOU!</a:t>
            </a:r>
          </a:p>
          <a:p>
            <a:pPr algn="ctr">
              <a:spcBef>
                <a:spcPts val="800"/>
              </a:spcBef>
              <a:defRPr sz="1400">
                <a:solidFill>
                  <a:srgbClr val="0284C7"/>
                </a:solidFill>
                <a:latin typeface="Calibri"/>
              </a:defRPr>
            </a:pPr>
            <a:r>
              <a:t>Safe Road AI</a:t>
            </a:r>
            <a:br/>
            <a:r>
              <a:t>Smarter Roads. Instant Response.</a:t>
            </a:r>
            <a:br/>
            <a:r>
              <a:t>Zero Extra Hardware.</a:t>
            </a:r>
          </a:p>
          <a:p>
            <a:br/>
            <a:pPr algn="ctr">
              <a:defRPr sz="1300" i="1">
                <a:solidFill>
                  <a:srgbClr val="1E293B"/>
                </a:solidFill>
                <a:latin typeface="Calibri"/>
              </a:defRPr>
            </a:pPr>
            <a:r>
              <a:t>We are open for Questions &amp;</a:t>
            </a:r>
            <a:br/>
            <a:r>
              <a:t>Viva Discussion.</a:t>
            </a:r>
          </a:p>
        </p:txBody>
      </p:sp>
      <p:pic>
        <p:nvPicPr>
          <p:cNvPr id="6" name="Picture 5" descr="page_18_img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4389120"/>
            <a:ext cx="1097280" cy="129444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